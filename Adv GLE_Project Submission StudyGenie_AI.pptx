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86" r:id="rId11"/>
    <p:sldId id="287" r:id="rId12"/>
    <p:sldId id="280" r:id="rId13"/>
    <p:sldId id="288" r:id="rId14"/>
    <p:sldId id="291" r:id="rId15"/>
    <p:sldId id="289" r:id="rId16"/>
    <p:sldId id="290" r:id="rId17"/>
    <p:sldId id="292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pesh Vyankat Ther" userId="3dcf1697-dd97-45f9-859f-b5bba4487417" providerId="ADAL" clId="{AACA8776-A2A4-4F1B-9F7F-63139F6D7F84}"/>
    <pc:docChg chg="delSld modSld">
      <pc:chgData name="Bhupesh Vyankat Ther" userId="3dcf1697-dd97-45f9-859f-b5bba4487417" providerId="ADAL" clId="{AACA8776-A2A4-4F1B-9F7F-63139F6D7F84}" dt="2026-06-25T05:22:40.744" v="1" actId="47"/>
      <pc:docMkLst>
        <pc:docMk/>
      </pc:docMkLst>
      <pc:sldChg chg="modSp mod">
        <pc:chgData name="Bhupesh Vyankat Ther" userId="3dcf1697-dd97-45f9-859f-b5bba4487417" providerId="ADAL" clId="{AACA8776-A2A4-4F1B-9F7F-63139F6D7F84}" dt="2026-06-25T05:20:36.444" v="0" actId="1036"/>
        <pc:sldMkLst>
          <pc:docMk/>
          <pc:sldMk cId="0" sldId="257"/>
        </pc:sldMkLst>
        <pc:spChg chg="mod">
          <ac:chgData name="Bhupesh Vyankat Ther" userId="3dcf1697-dd97-45f9-859f-b5bba4487417" providerId="ADAL" clId="{AACA8776-A2A4-4F1B-9F7F-63139F6D7F84}" dt="2026-06-25T05:20:36.444" v="0" actId="1036"/>
          <ac:spMkLst>
            <pc:docMk/>
            <pc:sldMk cId="0" sldId="257"/>
            <ac:spMk id="3" creationId="{B0B023FA-CFEB-ACE9-8425-7E72E307CDC5}"/>
          </ac:spMkLst>
        </pc:spChg>
      </pc:sldChg>
      <pc:sldChg chg="del">
        <pc:chgData name="Bhupesh Vyankat Ther" userId="3dcf1697-dd97-45f9-859f-b5bba4487417" providerId="ADAL" clId="{AACA8776-A2A4-4F1B-9F7F-63139F6D7F84}" dt="2026-06-25T05:22:40.744" v="1" actId="47"/>
        <pc:sldMkLst>
          <pc:docMk/>
          <pc:sldMk cId="2115484872" sldId="277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01557310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/>
                        <a:t>Tanisha</a:t>
                      </a:r>
                      <a:r>
                        <a:rPr lang="en-US" sz="2000" baseline="0" dirty="0" smtClean="0"/>
                        <a:t> Sameer </a:t>
                      </a:r>
                      <a:r>
                        <a:rPr lang="en-US" sz="2000" baseline="0" dirty="0" err="1" smtClean="0"/>
                        <a:t>Pathan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/>
                        <a:t>tanishapathan04@gmail.com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+</a:t>
                      </a:r>
                      <a:r>
                        <a:rPr lang="en-US" sz="2000" dirty="0" smtClean="0"/>
                        <a:t>919156821175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 smtClean="0"/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/>
              <a:t>S</a:t>
            </a:r>
            <a:r>
              <a:rPr lang="en-US" sz="2400" dirty="0" smtClean="0"/>
              <a:t>tudy genie!</a:t>
            </a:r>
            <a:r>
              <a:rPr lang="en-US" sz="2400" dirty="0" smtClean="0"/>
              <a:t> </a:t>
            </a:r>
            <a:r>
              <a:rPr lang="en-US" sz="2400" dirty="0"/>
              <a:t>– Intelligent Study Mentor using Agentic AI and RAG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15"/>
          <a:stretch/>
        </p:blipFill>
        <p:spPr>
          <a:xfrm>
            <a:off x="4163328" y="3683879"/>
            <a:ext cx="775983" cy="903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56298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 smtClean="0"/>
              <a:t>Problem Statement : Study genie!</a:t>
            </a:r>
            <a:endParaRPr lang="en-US" dirty="0" smtClean="0"/>
          </a:p>
          <a:p>
            <a:pPr fontAlgn="base"/>
            <a:endParaRPr lang="en-US" b="1" dirty="0" smtClean="0"/>
          </a:p>
          <a:p>
            <a:pPr fontAlgn="base"/>
            <a:r>
              <a:rPr lang="en-US" sz="2800" b="1" dirty="0" smtClean="0"/>
              <a:t>The Challenge</a:t>
            </a:r>
            <a:r>
              <a:rPr lang="en-US" sz="2800" dirty="0" smtClean="0"/>
              <a:t> </a:t>
            </a:r>
          </a:p>
          <a:p>
            <a:pPr fontAlgn="base"/>
            <a:r>
              <a:rPr lang="en-US" sz="2000" dirty="0" smtClean="0"/>
              <a:t>Students </a:t>
            </a:r>
            <a:r>
              <a:rPr lang="en-US" sz="2000" dirty="0"/>
              <a:t>often struggle to manage multiple study materials spread across PDFs, lecture notes, books, and presentations. Finding accurate information quickly is time-consuming, and generic AI assistants may provide answers that are not aligned with a student's own study resources. This results in inefficient learning and poor exam preparation.</a:t>
            </a:r>
            <a:r>
              <a:rPr lang="en-US" sz="2000" dirty="0" smtClean="0"/>
              <a:t> </a:t>
            </a:r>
          </a:p>
          <a:p>
            <a:pPr fontAlgn="base"/>
            <a:endParaRPr lang="en-US" sz="2800" dirty="0" smtClean="0"/>
          </a:p>
          <a:p>
            <a:pPr fontAlgn="base"/>
            <a:r>
              <a:rPr lang="en-US" sz="2800" b="1" dirty="0" smtClean="0"/>
              <a:t>The Objective</a:t>
            </a:r>
            <a:r>
              <a:rPr lang="en-US" sz="2800" dirty="0" smtClean="0"/>
              <a:t> </a:t>
            </a:r>
          </a:p>
          <a:p>
            <a:pPr fontAlgn="base"/>
            <a:endParaRPr lang="en-US" dirty="0" smtClean="0"/>
          </a:p>
          <a:p>
            <a:r>
              <a:rPr lang="en-US" sz="2000" dirty="0"/>
              <a:t>Build an AI-powered Study Mentor that:</a:t>
            </a:r>
          </a:p>
          <a:p>
            <a:r>
              <a:rPr lang="en-US" sz="2000" dirty="0"/>
              <a:t>Provides personalized learning support. </a:t>
            </a:r>
          </a:p>
          <a:p>
            <a:r>
              <a:rPr lang="en-US" sz="2000" dirty="0"/>
              <a:t>Retrieves answers from uploaded study material using RAG. </a:t>
            </a:r>
          </a:p>
          <a:p>
            <a:r>
              <a:rPr lang="en-US" sz="2000" dirty="0"/>
              <a:t>Generates summaries, quizzes, flashcards, and revision notes. </a:t>
            </a:r>
          </a:p>
          <a:p>
            <a:r>
              <a:rPr lang="en-US" sz="2000" dirty="0"/>
              <a:t>Creates personalized study plans. </a:t>
            </a:r>
          </a:p>
          <a:p>
            <a:r>
              <a:rPr lang="en-US" sz="2000" dirty="0"/>
              <a:t>Assists students in understanding difficult concepts.</a:t>
            </a:r>
          </a:p>
          <a:p>
            <a:pPr fontAlgn="base"/>
            <a:endParaRPr lang="en-US" dirty="0" smtClean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sz="2400" b="1" dirty="0"/>
              <a:t>Proposed Solution: AI-Powered </a:t>
            </a:r>
            <a:r>
              <a:rPr lang="en-US" sz="2400" b="1" dirty="0" smtClean="0"/>
              <a:t>Study Genie!</a:t>
            </a:r>
          </a:p>
          <a:p>
            <a:endParaRPr lang="en-US" b="1" dirty="0" smtClean="0"/>
          </a:p>
          <a:p>
            <a:r>
              <a:rPr lang="en-US" sz="2000" dirty="0" smtClean="0"/>
              <a:t>Study Genie </a:t>
            </a:r>
            <a:r>
              <a:rPr lang="en-US" sz="2000" dirty="0"/>
              <a:t>AI is an AI-powered educational assistant developed using IBM </a:t>
            </a:r>
            <a:r>
              <a:rPr lang="en-US" sz="2000" dirty="0" err="1"/>
              <a:t>watsonx</a:t>
            </a:r>
            <a:r>
              <a:rPr lang="en-US" sz="2000" dirty="0"/>
              <a:t> Orchestrate and IBM Granite models.</a:t>
            </a:r>
          </a:p>
          <a:p>
            <a:r>
              <a:rPr lang="en-US" sz="2000" dirty="0"/>
              <a:t>The system combines Retrieval-Augmented Generation (RAG) with conversational AI to provide personalized educational support.</a:t>
            </a:r>
          </a:p>
          <a:p>
            <a:r>
              <a:rPr lang="en-US" sz="2000" dirty="0"/>
              <a:t>The solution allows students to upload lecture notes, textbooks, and study materials. When a student asks a question, the AI retrieves the most relevant content from the uploaded documents before generating an accurate response.</a:t>
            </a:r>
          </a:p>
          <a:p>
            <a:r>
              <a:rPr lang="en-US" sz="2000" dirty="0"/>
              <a:t>The system helps students by:</a:t>
            </a:r>
          </a:p>
          <a:p>
            <a:r>
              <a:rPr lang="en-US" sz="2000" dirty="0"/>
              <a:t>Explaining difficult concepts. </a:t>
            </a:r>
          </a:p>
          <a:p>
            <a:r>
              <a:rPr lang="en-US" sz="2000" dirty="0"/>
              <a:t>Generating summaries. </a:t>
            </a:r>
          </a:p>
          <a:p>
            <a:r>
              <a:rPr lang="en-US" sz="2000" dirty="0"/>
              <a:t>Creating quizzes. </a:t>
            </a:r>
          </a:p>
          <a:p>
            <a:r>
              <a:rPr lang="en-US" sz="2000" dirty="0"/>
              <a:t>Preparing flashcards. </a:t>
            </a:r>
          </a:p>
          <a:p>
            <a:r>
              <a:rPr lang="en-US" sz="2000" dirty="0"/>
              <a:t>Building personalized study schedules. </a:t>
            </a:r>
          </a:p>
          <a:p>
            <a:r>
              <a:rPr lang="en-US" sz="2000" dirty="0"/>
              <a:t>Supporting exam preparation. 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17737"/>
              </p:ext>
            </p:extLst>
          </p:nvPr>
        </p:nvGraphicFramePr>
        <p:xfrm>
          <a:off x="777240" y="1396640"/>
          <a:ext cx="10515600" cy="478248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602694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15038466"/>
                    </a:ext>
                  </a:extLst>
                </a:gridCol>
              </a:tblGrid>
              <a:tr h="683212">
                <a:tc>
                  <a:txBody>
                    <a:bodyPr/>
                    <a:lstStyle/>
                    <a:p>
                      <a:r>
                        <a:rPr lang="en-US" sz="2000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950418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/>
                        <a:t>IBM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Hosting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437769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IBM </a:t>
                      </a:r>
                      <a:r>
                        <a:rPr lang="en-US" sz="2000" dirty="0" err="1"/>
                        <a:t>watsonx</a:t>
                      </a:r>
                      <a:r>
                        <a:rPr lang="en-US" sz="2000" dirty="0"/>
                        <a:t> Orchestrate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AI Agent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288374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IBM Granite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Natural Language Understanding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737349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Retrieval-Augmented Generation (RAG)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Accurate document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531760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/>
                        <a:t>Knowledge 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Uploaded PDFs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219903"/>
                  </a:ext>
                </a:extLst>
              </a:tr>
              <a:tr h="683212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Prompt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AI behavior customization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407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component Used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1" y="863187"/>
            <a:ext cx="995765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1.Chat </a:t>
            </a:r>
            <a:r>
              <a:rPr lang="en-US" sz="2000" b="1" dirty="0"/>
              <a:t>Input </a:t>
            </a:r>
          </a:p>
          <a:p>
            <a:r>
              <a:rPr lang="en-US" sz="2000" dirty="0"/>
              <a:t>Students ask educational questions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2.IBM </a:t>
            </a:r>
            <a:r>
              <a:rPr lang="en-US" sz="2000" b="1" dirty="0"/>
              <a:t>Granite Model </a:t>
            </a:r>
          </a:p>
          <a:p>
            <a:r>
              <a:rPr lang="en-US" sz="2000" dirty="0"/>
              <a:t>Processes user queries using natural language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3.Knowledge </a:t>
            </a:r>
            <a:r>
              <a:rPr lang="en-US" sz="2000" b="1" dirty="0"/>
              <a:t>Base </a:t>
            </a:r>
          </a:p>
          <a:p>
            <a:r>
              <a:rPr lang="en-US" sz="2000" dirty="0"/>
              <a:t>Retrieves relevant content from uploaded PDFs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4.RAG </a:t>
            </a:r>
            <a:r>
              <a:rPr lang="en-US" sz="2000" b="1" dirty="0"/>
              <a:t>Engine </a:t>
            </a:r>
          </a:p>
          <a:p>
            <a:r>
              <a:rPr lang="en-US" sz="2000" dirty="0" smtClean="0"/>
              <a:t>Combines </a:t>
            </a:r>
            <a:r>
              <a:rPr lang="en-US" sz="2000" dirty="0"/>
              <a:t>retrieved information with AI reasoning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5.Chat </a:t>
            </a:r>
            <a:r>
              <a:rPr lang="en-US" sz="2000" b="1" dirty="0"/>
              <a:t>Output </a:t>
            </a:r>
          </a:p>
          <a:p>
            <a:r>
              <a:rPr lang="en-US" sz="2000" dirty="0"/>
              <a:t>Returns accurate, structured educational responses.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workflow -</a:t>
            </a:r>
            <a:endParaRPr sz="2400" b="1">
              <a:sym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46909" y="1260764"/>
            <a:ext cx="940723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Student</a:t>
            </a:r>
          </a:p>
          <a:p>
            <a:r>
              <a:rPr lang="en-US" sz="2800" dirty="0"/>
              <a:t>   ↓</a:t>
            </a:r>
          </a:p>
          <a:p>
            <a:r>
              <a:rPr lang="en-US" sz="2800" dirty="0"/>
              <a:t>Upload PDFs</a:t>
            </a:r>
          </a:p>
          <a:p>
            <a:r>
              <a:rPr lang="en-US" sz="2800" dirty="0"/>
              <a:t>   ↓</a:t>
            </a:r>
          </a:p>
          <a:p>
            <a:r>
              <a:rPr lang="en-US" sz="2800" dirty="0"/>
              <a:t>Knowledge Base (RAG)</a:t>
            </a:r>
          </a:p>
          <a:p>
            <a:r>
              <a:rPr lang="en-US" sz="2800" dirty="0"/>
              <a:t>   ↓</a:t>
            </a:r>
          </a:p>
          <a:p>
            <a:r>
              <a:rPr lang="en-US" sz="2800" dirty="0"/>
              <a:t>IBM </a:t>
            </a:r>
            <a:r>
              <a:rPr lang="en-US" sz="2800" dirty="0" err="1"/>
              <a:t>watsonx</a:t>
            </a:r>
            <a:r>
              <a:rPr lang="en-US" sz="2800" dirty="0"/>
              <a:t> Orchestrate</a:t>
            </a:r>
          </a:p>
          <a:p>
            <a:r>
              <a:rPr lang="en-US" sz="2800" dirty="0"/>
              <a:t>   ↓</a:t>
            </a:r>
          </a:p>
          <a:p>
            <a:r>
              <a:rPr lang="en-US" sz="2800" dirty="0"/>
              <a:t>IBM Granite Model</a:t>
            </a:r>
          </a:p>
          <a:p>
            <a:r>
              <a:rPr lang="en-US" sz="2800" dirty="0"/>
              <a:t>   ↓</a:t>
            </a:r>
          </a:p>
          <a:p>
            <a:r>
              <a:rPr lang="en-US" sz="2800" dirty="0"/>
              <a:t>Personalized AI Response</a:t>
            </a: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sp>
        <p:nvSpPr>
          <p:cNvPr id="4" name="Rectangle 3"/>
          <p:cNvSpPr/>
          <p:nvPr/>
        </p:nvSpPr>
        <p:spPr>
          <a:xfrm>
            <a:off x="537590" y="771747"/>
            <a:ext cx="756458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 Student</a:t>
            </a:r>
          </a:p>
          <a:p>
            <a:r>
              <a:rPr lang="en-US" sz="2400" dirty="0"/>
              <a:t>             │</a:t>
            </a:r>
          </a:p>
          <a:p>
            <a:r>
              <a:rPr lang="en-US" sz="2400" dirty="0"/>
              <a:t>             ▼</a:t>
            </a:r>
          </a:p>
          <a:p>
            <a:r>
              <a:rPr lang="en-US" sz="2400" dirty="0"/>
              <a:t>     Chat Interface</a:t>
            </a:r>
          </a:p>
          <a:p>
            <a:r>
              <a:rPr lang="en-US" sz="2400" dirty="0"/>
              <a:t>             │</a:t>
            </a:r>
          </a:p>
          <a:p>
            <a:r>
              <a:rPr lang="en-US" sz="2400" dirty="0"/>
              <a:t>             ▼</a:t>
            </a:r>
          </a:p>
          <a:p>
            <a:r>
              <a:rPr lang="en-US" sz="2400" dirty="0"/>
              <a:t> IBM </a:t>
            </a:r>
            <a:r>
              <a:rPr lang="en-US" sz="2400" dirty="0" err="1"/>
              <a:t>watsonx</a:t>
            </a:r>
            <a:r>
              <a:rPr lang="en-US" sz="2400" dirty="0"/>
              <a:t> Orchestrate</a:t>
            </a:r>
          </a:p>
          <a:p>
            <a:r>
              <a:rPr lang="en-US" sz="2400" dirty="0"/>
              <a:t>        ↙         ↘</a:t>
            </a:r>
          </a:p>
          <a:p>
            <a:r>
              <a:rPr lang="en-US" sz="2400" dirty="0"/>
              <a:t>Knowledge Base   Granite LLM</a:t>
            </a:r>
          </a:p>
          <a:p>
            <a:r>
              <a:rPr lang="en-US" sz="2400" dirty="0"/>
              <a:t>        ↘         ↙</a:t>
            </a:r>
          </a:p>
          <a:p>
            <a:r>
              <a:rPr lang="en-US" sz="2400" dirty="0"/>
              <a:t>     AI Response</a:t>
            </a:r>
          </a:p>
          <a:p>
            <a:r>
              <a:rPr lang="en-US" sz="2400" dirty="0"/>
              <a:t>             │</a:t>
            </a:r>
          </a:p>
          <a:p>
            <a:r>
              <a:rPr lang="en-US" sz="2400" dirty="0"/>
              <a:t>             ▼</a:t>
            </a:r>
          </a:p>
          <a:p>
            <a:r>
              <a:rPr lang="en-US" sz="2400" dirty="0"/>
              <a:t>          Student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Agentic AI in </a:t>
            </a:r>
            <a:r>
              <a:rPr lang="en-US" sz="2000" b="1" dirty="0" smtClean="0"/>
              <a:t>Study Genie </a:t>
            </a:r>
            <a:r>
              <a:rPr lang="en-US" sz="2000" b="1" dirty="0"/>
              <a:t>Agent</a:t>
            </a:r>
          </a:p>
          <a:p>
            <a:r>
              <a:rPr lang="en-US" sz="2000" dirty="0" smtClean="0"/>
              <a:t>Study Genie AI </a:t>
            </a:r>
            <a:r>
              <a:rPr lang="en-US" sz="2000" dirty="0"/>
              <a:t>uses Agentic AI to provide intelligent educational assistance.</a:t>
            </a:r>
          </a:p>
          <a:p>
            <a:r>
              <a:rPr lang="en-US" sz="2000" b="1" dirty="0"/>
              <a:t>The AI agent:</a:t>
            </a:r>
          </a:p>
          <a:p>
            <a:r>
              <a:rPr lang="en-US" sz="2000" dirty="0"/>
              <a:t>Understands student questions. </a:t>
            </a:r>
          </a:p>
          <a:p>
            <a:r>
              <a:rPr lang="en-US" sz="2000" dirty="0"/>
              <a:t>Retrieves relevant information from uploaded study materials. </a:t>
            </a:r>
          </a:p>
          <a:p>
            <a:r>
              <a:rPr lang="en-US" sz="2000" dirty="0"/>
              <a:t>Generates personalized explanations. </a:t>
            </a:r>
          </a:p>
          <a:p>
            <a:r>
              <a:rPr lang="en-US" sz="2000" dirty="0"/>
              <a:t>Creates quizzes and revision notes. </a:t>
            </a:r>
          </a:p>
          <a:p>
            <a:r>
              <a:rPr lang="en-US" sz="2000" dirty="0"/>
              <a:t>Builds study plans. </a:t>
            </a:r>
          </a:p>
          <a:p>
            <a:r>
              <a:rPr lang="en-US" sz="2000" dirty="0"/>
              <a:t>Supports continuous learning. </a:t>
            </a:r>
          </a:p>
          <a:p>
            <a:r>
              <a:rPr lang="en-US" sz="2000" dirty="0"/>
              <a:t>Instead of acting like a traditional </a:t>
            </a:r>
            <a:r>
              <a:rPr lang="en-US" sz="2000" dirty="0" err="1"/>
              <a:t>chatbot</a:t>
            </a:r>
            <a:r>
              <a:rPr lang="en-US" sz="2000" dirty="0"/>
              <a:t>, the agent performs multiple educational tasks autonomously to improve learning outcomes.</a:t>
            </a:r>
          </a:p>
          <a:p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 rot="10800000">
            <a:off x="1026621" y="3560618"/>
            <a:ext cx="10223159" cy="762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 rot="10800000" flipV="1">
            <a:off x="263236" y="54464"/>
            <a:ext cx="8811491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learning experience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 Generation (RAG)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study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quiz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Flashcard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directly with student notes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on IBM Granite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conversational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revision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document-based responses 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58627" y="1393946"/>
            <a:ext cx="62842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https://github.com/tanishapathan-jpg/StudyGenie-AI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46364" y="974401"/>
            <a:ext cx="1282930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Voice-based learning assistant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analytics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exam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progress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with LMS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career guidance 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887034"/>
              </p:ext>
            </p:extLst>
          </p:nvPr>
        </p:nvGraphicFramePr>
        <p:xfrm>
          <a:off x="1608571" y="884488"/>
          <a:ext cx="7543800" cy="582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Acrobat Document" r:id="rId3" imgW="7543649" imgH="5829183" progId="Acrobat.Document.DC">
                  <p:embed/>
                </p:oleObj>
              </mc:Choice>
              <mc:Fallback>
                <p:oleObj name="Acrobat Document" r:id="rId3" imgW="7543649" imgH="5829183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8571" y="884488"/>
                        <a:ext cx="7543800" cy="582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149879"/>
              </p:ext>
            </p:extLst>
          </p:nvPr>
        </p:nvGraphicFramePr>
        <p:xfrm>
          <a:off x="2342862" y="929698"/>
          <a:ext cx="7543800" cy="582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Acrobat Document" r:id="rId3" imgW="7543649" imgH="5829183" progId="Acrobat.Document.DC">
                  <p:embed/>
                </p:oleObj>
              </mc:Choice>
              <mc:Fallback>
                <p:oleObj name="Acrobat Document" r:id="rId3" imgW="7543649" imgH="5829183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2862" y="929698"/>
                        <a:ext cx="7543800" cy="582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110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735288"/>
              </p:ext>
            </p:extLst>
          </p:nvPr>
        </p:nvGraphicFramePr>
        <p:xfrm>
          <a:off x="1924499" y="1477578"/>
          <a:ext cx="8020050" cy="566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Acrobat Document" r:id="rId3" imgW="8019941" imgH="5666935" progId="Acrobat.Document.DC">
                  <p:embed/>
                </p:oleObj>
              </mc:Choice>
              <mc:Fallback>
                <p:oleObj name="Acrobat Document" r:id="rId3" imgW="8019941" imgH="5666935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4499" y="1477578"/>
                        <a:ext cx="8020050" cy="566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380530"/>
              </p:ext>
            </p:extLst>
          </p:nvPr>
        </p:nvGraphicFramePr>
        <p:xfrm>
          <a:off x="2287443" y="1190625"/>
          <a:ext cx="8020050" cy="566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Acrobat Document" r:id="rId3" imgW="8019941" imgH="5666935" progId="Acrobat.Document.DC">
                  <p:embed/>
                </p:oleObj>
              </mc:Choice>
              <mc:Fallback>
                <p:oleObj name="Acrobat Document" r:id="rId3" imgW="8019941" imgH="5666935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7443" y="1190625"/>
                        <a:ext cx="8020050" cy="566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3885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511678"/>
              </p:ext>
            </p:extLst>
          </p:nvPr>
        </p:nvGraphicFramePr>
        <p:xfrm>
          <a:off x="1608570" y="749589"/>
          <a:ext cx="9114848" cy="644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Acrobat Document" r:id="rId3" imgW="8019941" imgH="5666935" progId="Acrobat.Document.DC">
                  <p:embed/>
                </p:oleObj>
              </mc:Choice>
              <mc:Fallback>
                <p:oleObj name="Acrobat Document" r:id="rId3" imgW="8019941" imgH="5666935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8570" y="749589"/>
                        <a:ext cx="9114848" cy="6441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1491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503</Words>
  <Application>Microsoft Office PowerPoint</Application>
  <PresentationFormat>Widescreen</PresentationFormat>
  <Paragraphs>171</Paragraphs>
  <Slides>18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Adobe Acrobat Document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ADMIN</cp:lastModifiedBy>
  <cp:revision>20</cp:revision>
  <dcterms:created xsi:type="dcterms:W3CDTF">2025-07-08T05:06:56Z</dcterms:created>
  <dcterms:modified xsi:type="dcterms:W3CDTF">2026-06-27T16:28:37Z</dcterms:modified>
</cp:coreProperties>
</file>